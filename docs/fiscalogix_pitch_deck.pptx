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274320"/>
            <a:ext cx="365760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274320"/>
            <a:ext cx="365760" cy="365760"/>
          </a:xfrm>
          <a:prstGeom prst="rect">
            <a:avLst/>
          </a:prstGeom>
          <a:solidFill>
            <a:srgbClr val="22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0" y="274320"/>
            <a:ext cx="365760" cy="365760"/>
          </a:xfrm>
          <a:prstGeom prst="rect">
            <a:avLst/>
          </a:prstGeom>
          <a:solidFill>
            <a:srgbClr val="27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0" y="274320"/>
            <a:ext cx="365760" cy="365760"/>
          </a:xfrm>
          <a:prstGeom prst="rect">
            <a:avLst/>
          </a:prstGeom>
          <a:solidFill>
            <a:srgbClr val="2C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80" y="274320"/>
            <a:ext cx="365760" cy="365760"/>
          </a:xfrm>
          <a:prstGeom prst="rect">
            <a:avLst/>
          </a:prstGeom>
          <a:solidFill>
            <a:srgbClr val="31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274320"/>
            <a:ext cx="365760" cy="365760"/>
          </a:xfrm>
          <a:prstGeom prst="rect">
            <a:avLst/>
          </a:prstGeom>
          <a:solidFill>
            <a:srgbClr val="36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642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FISCALOGIX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3C5FD"/>
                </a:solidFill>
                <a:latin typeface="Calibri"/>
              </a:rPr>
              <a:t>Intelligent Financial Operating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4572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India's first AI-native platform unifying financial management,</a:t>
            </a:r>
          </a:p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supply chain intelligence, GST compliance and demand forecasting.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12344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3308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AI-Powered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114800"/>
            <a:ext cx="12344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13308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GST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114800"/>
            <a:ext cx="12344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13308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114800"/>
            <a:ext cx="1234440" cy="320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13308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PITCH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2743200"/>
            <a:ext cx="17373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6+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AI/ML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59" y="2743200"/>
            <a:ext cx="17373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59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3383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Forecast Range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4114800"/>
            <a:ext cx="17373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754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Unified Platform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59" y="4114800"/>
            <a:ext cx="17373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4754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  <a:latin typeface="Calibri"/>
              </a:rPr>
              <a:t>Audit Trails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564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How Indian enterprises manage finances today — and why it's broken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✗  Fragmented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Tally, Excel, GST portal, logistics sheets — none talk to each other. Decisions happen on stale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✗  GST Nightmare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Reconciliation takes finance teams days each month. Errors mean penalties. ITC mismatches go unnoticed.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98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✗  Blind to Disruptions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Supply chain disruptions — port strikes, geopolitical risk, weather — are noticed after the damage is done.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88920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98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✗  No Predictive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Cash flow projections are monthly spreadsheets. Demand signals arrive too late to act on inventory.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297679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4297679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4074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✗  Audit Chaos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75487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Audit trails are fragmented across 5 systems. Producing compliance evidence is a manual, multi-day exercise.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One intelligent platform — built ground-up for Indian enterprises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🧠 AI 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Live simulation of your entire operation. Ask 'what if' questions and get answers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📊 Demand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90-day ML forecasts with SHAP explainability. Know what to stock before demand hits.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08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🛣️ Route Optimizer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Geopolitical-aware routing across Ocean, Rail &amp; Truck. Avoids strikes, sanctions &amp; delays.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🇮🇳 GST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Auto-generate GSTR-1, GSTR-3B. Reconcile ITC. Zero manual GST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657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⚡ 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251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20+ financial risk signals monitored 24/7. SMS + dashboard alerts before crises hit.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6576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657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💬 AI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51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Claude-powered RAG assistant over your contracts, invoices &amp; financial history.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The Fiscalogix architecture — from raw data to intelligent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474720" cy="411480"/>
          </a:xfrm>
          <a:prstGeom prst="rect">
            <a:avLst/>
          </a:prstGeom>
          <a:solidFill>
            <a:srgbClr val="1E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3108960" cy="548640"/>
          </a:xfrm>
          <a:prstGeom prst="rect">
            <a:avLst/>
          </a:prstGeom>
          <a:solidFill>
            <a:srgbClr val="1A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ERP / Tally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3108960" cy="548640"/>
          </a:xfrm>
          <a:prstGeom prst="rect">
            <a:avLst/>
          </a:prstGeom>
          <a:solidFill>
            <a:srgbClr val="1A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GST Portal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3108960" cy="548640"/>
          </a:xfrm>
          <a:prstGeom prst="rect">
            <a:avLst/>
          </a:prstGeom>
          <a:solidFill>
            <a:srgbClr val="1A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Logistics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97679"/>
            <a:ext cx="3108960" cy="548640"/>
          </a:xfrm>
          <a:prstGeom prst="rect">
            <a:avLst/>
          </a:prstGeom>
          <a:solidFill>
            <a:srgbClr val="1A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Bank Feeds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74920"/>
            <a:ext cx="3108960" cy="548640"/>
          </a:xfrm>
          <a:prstGeom prst="rect">
            <a:avLst/>
          </a:prstGeom>
          <a:solidFill>
            <a:srgbClr val="1A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Market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371600"/>
            <a:ext cx="347472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371600"/>
            <a:ext cx="347472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965960"/>
            <a:ext cx="3108960" cy="548640"/>
          </a:xfrm>
          <a:prstGeom prst="rect">
            <a:avLst/>
          </a:prstGeom>
          <a:solidFill>
            <a:srgbClr val="1E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Adaptive Orchestrator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743200"/>
            <a:ext cx="3108960" cy="548640"/>
          </a:xfrm>
          <a:prstGeom prst="rect">
            <a:avLst/>
          </a:prstGeom>
          <a:solidFill>
            <a:srgbClr val="1E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Risk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520440"/>
            <a:ext cx="3108960" cy="548640"/>
          </a:xfrm>
          <a:prstGeom prst="rect">
            <a:avLst/>
          </a:prstGeom>
          <a:solidFill>
            <a:srgbClr val="1E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Demand Models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297679"/>
            <a:ext cx="3108960" cy="548640"/>
          </a:xfrm>
          <a:prstGeom prst="rect">
            <a:avLst/>
          </a:prstGeom>
          <a:solidFill>
            <a:srgbClr val="1E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3891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Route Optimizer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074920"/>
            <a:ext cx="3108960" cy="548640"/>
          </a:xfrm>
          <a:prstGeom prst="rect">
            <a:avLst/>
          </a:prstGeom>
          <a:solidFill>
            <a:srgbClr val="1E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166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RAG Embeddings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657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371600"/>
            <a:ext cx="3474720" cy="5029200"/>
          </a:xfrm>
          <a:prstGeom prst="rect">
            <a:avLst/>
          </a:prstGeom>
          <a:solidFill>
            <a:srgbClr val="054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371600"/>
            <a:ext cx="3474720" cy="411480"/>
          </a:xfrm>
          <a:prstGeom prst="rect">
            <a:avLst/>
          </a:prstGeom>
          <a:solidFill>
            <a:srgbClr val="06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solidFill>
            <a:srgbClr val="06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Digital Twin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solidFill>
            <a:srgbClr val="06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GST Reports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520440"/>
            <a:ext cx="3108960" cy="548640"/>
          </a:xfrm>
          <a:prstGeom prst="rect">
            <a:avLst/>
          </a:prstGeom>
          <a:solidFill>
            <a:srgbClr val="06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Alerts &amp; SMS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297679"/>
            <a:ext cx="3108960" cy="548640"/>
          </a:xfrm>
          <a:prstGeom prst="rect">
            <a:avLst/>
          </a:prstGeom>
          <a:solidFill>
            <a:srgbClr val="06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3891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Audit Logs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5074920"/>
            <a:ext cx="3108960" cy="548640"/>
          </a:xfrm>
          <a:prstGeom prst="rect">
            <a:avLst/>
          </a:prstGeom>
          <a:solidFill>
            <a:srgbClr val="06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5166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AI Copilot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India's enterprise software market is massively underserved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554480"/>
            <a:ext cx="2286000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India Enterprise
Financial Software
Market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554480"/>
            <a:ext cx="2286000" cy="228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$3.2B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Calibri"/>
              </a:rPr>
              <a:t>SME + Mid-Market
GST + Supply Chain
Software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54480"/>
            <a:ext cx="228600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628"/>
                </a:solidFill>
                <a:latin typeface="Calibri"/>
              </a:rPr>
              <a:t>$320M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628"/>
                </a:solidFill>
                <a:latin typeface="Calibri"/>
              </a:rPr>
              <a:t>Immediately
Addressable with
Fiscalogix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Why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531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GST e-invoicing mandate expands to all businesses in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64608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371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India's logistics sector grows 15% YoY — needs intelligent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48656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21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MSME digitisation push: ₹22,000 Cr government backing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32704"/>
            <a:ext cx="73152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052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No incumbent offers AI + GST + Supply Chain in one platform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SaaS + API — recurring revenue with usage-based upsell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₹9,999/mo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265176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GST Compliance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8211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Basic Demand Forecasting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3075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Dashboard &amp;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7939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 to 5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28031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Email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280160"/>
            <a:ext cx="3566160" cy="5120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₹29,999/mo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423160"/>
            <a:ext cx="265176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2633472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Full Digital Twin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182112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Route Optimizer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730752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AI Copilot (RAG)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279392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 to 25 users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828031"/>
            <a:ext cx="914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API Access + Webhooks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280160"/>
            <a:ext cx="3566160" cy="5120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Custom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423160"/>
            <a:ext cx="2651760" cy="27432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263347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On-premise / Private Cloud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18211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Custom ML fine-tuning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73075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Dedicated SLA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27939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Unlimited users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4828031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Full integrations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Additional revenue: API usage metering · Professional services · Data analytics add-ons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TRACTION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Where we are and where we're going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Built &amp; Deployed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Production backend on Railway (FastAPI + PostgreSQL)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2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6 ML models: demand, risk, routing, RAG, anomaly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52344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GST compliance engine with GSTR-1 / GSTR-3B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82696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Digital twin with real-time simulation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13048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8561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AI Copilot powered by Claude (Anthropic)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9144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SMS alerting via Twilio, async job processing via Celery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82880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470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Q2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First 5 paying pilot customers (SME segment)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69748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715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Q3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WhatsApp &amp; ERP integration (SAP, Zoho)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56616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584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Q4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Custom ML fine-tuning on customer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43484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4531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Q1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Series A raise + 50 enterprise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30352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321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Q2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Expand to SEA markets (Singapore, Indonesia)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55040"/>
            <a:ext cx="12188952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Built by engineers who understand both finance and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Varshan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  <a:latin typeface="Calibri"/>
              </a:rPr>
              <a:t>Founder &amp; CEO — Fiscalogix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31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Full-stack AI engineer with deep expertise in financial systems, ML pipelines,
and enterprise SaaS architecture. Built Fiscalogix end-to-end.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  <a:latin typeface="Calibri"/>
              </a:rPr>
              <a:t>We Are Looking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5661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Strategic Advisors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CFOs, GST experts, logistics heads who can open doors and validate our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114800"/>
            <a:ext cx="35661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148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Enterprise Pilots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09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5–10 companies willing to be design partners in exchange for deeply customized onboarding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114800"/>
            <a:ext cx="35661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Seed Investors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709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₹2–5 Cr to extend runway to Series A, accelerate BD, and hire 2 senior engineers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687568"/>
            <a:ext cx="94457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FISCALOGIX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3C5FD"/>
                </a:solidFill>
                <a:latin typeface="Calibri"/>
              </a:rPr>
              <a:t>India's Intelligent Financial Operating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0"/>
            <a:ext cx="3044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Let's Build the Future of Indian Enterprise Finance —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749039"/>
            <a:ext cx="26517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7673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628"/>
                </a:solidFill>
                <a:latin typeface="Calibri"/>
              </a:rPr>
              <a:t>Schedule a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749039"/>
            <a:ext cx="265176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7673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Become a Pilot Partner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749039"/>
            <a:ext cx="26517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7673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Invest in Fiscalogix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Confidential — For Discussion Purposes Only · Fiscalogix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56400"/>
            <a:ext cx="12188952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