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79" y="0"/>
            <a:ext cx="4690872" cy="685800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71024"/>
                </a:solidFill>
                <a:latin typeface="Calibri"/>
              </a:rPr>
              <a:t>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572768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FISCALOGIX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128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TECHNICAL CAPABILITIES BRIEF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502920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A full-stack AI financial operating system built for enterprises
that run complex supply chains, manage Indian tax compliance,
and need predictive intelligence — not just reporting.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23360"/>
            <a:ext cx="1371600" cy="2560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4041648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8-Stage AI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4023360"/>
            <a:ext cx="137160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12264" y="4041648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GNN Risk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4023360"/>
            <a:ext cx="13716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4" y="4041648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GST 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4023360"/>
            <a:ext cx="137160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664" y="4041648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Monte Carlo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822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WHAT'S INSIDE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1280160"/>
            <a:ext cx="1920240" cy="123444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80960" y="1280160"/>
            <a:ext cx="192024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14173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  <a:latin typeface="Calibri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19659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3C5FD"/>
                </a:solidFill>
                <a:latin typeface="Calibri"/>
              </a:rPr>
              <a:t>Pipeline Stages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1280160"/>
            <a:ext cx="1920240" cy="123444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1280160"/>
            <a:ext cx="1920240" cy="50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14173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B6D4"/>
                </a:solidFill>
                <a:latin typeface="Calibri"/>
              </a:rPr>
              <a:t>6+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19659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3C5FD"/>
                </a:solidFill>
                <a:latin typeface="Calibri"/>
              </a:rPr>
              <a:t>ML Models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2743200"/>
            <a:ext cx="1920240" cy="123444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80960" y="2743200"/>
            <a:ext cx="192024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28803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  <a:latin typeface="Calibri"/>
              </a:rPr>
              <a:t>20+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34290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3C5FD"/>
                </a:solidFill>
                <a:latin typeface="Calibri"/>
              </a:rPr>
              <a:t>Risk Signals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2743200"/>
            <a:ext cx="1920240" cy="123444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84080" y="2743200"/>
            <a:ext cx="1920240" cy="50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8803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B6D4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4290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3C5FD"/>
                </a:solidFill>
                <a:latin typeface="Calibri"/>
              </a:rPr>
              <a:t>AI Agents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4206240"/>
            <a:ext cx="1920240" cy="123444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80960" y="4206240"/>
            <a:ext cx="192024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43434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  <a:latin typeface="Calibri"/>
              </a:rPr>
              <a:t>RAG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4892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3C5FD"/>
                </a:solidFill>
                <a:latin typeface="Calibri"/>
              </a:rPr>
              <a:t>Semantic Retrieval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84080" y="4206240"/>
            <a:ext cx="1920240" cy="123444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84080" y="4206240"/>
            <a:ext cx="1920240" cy="50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4080" y="43434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B6D4"/>
                </a:solidFill>
                <a:latin typeface="Calibri"/>
              </a:rPr>
              <a:t>GSTR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4892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3C5FD"/>
                </a:solidFill>
                <a:latin typeface="Calibri"/>
              </a:rPr>
              <a:t>Auto Compliance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09320"/>
            <a:ext cx="12188952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THIS PRODUCT IS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  <a:latin typeface="Calibri"/>
              </a:rPr>
              <a:t>The exact failures that led to building Fiscalogix from scratch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5669280" cy="1627632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56692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No unified financial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64208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Companies run Tally for accounts, Excel for forecasting, a third-party GST tool, and a logistics spreadsheet. None share data. Decisions happen on stale, disconnected snapshots.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5669280" cy="1627632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566928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618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GST ITC lag is an invisible working capital drain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64208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Importing goods to India triggers IGST at customs. Recovery as Input Tax Credit takes 45-90 days. At 11% WACC, a Rs1Cr import bleeds Rs24,000 per shipment in hidden carrying cost — invisible in any P&amp;L.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07791"/>
            <a:ext cx="5669280" cy="1627632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907791"/>
            <a:ext cx="56692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7238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Risk is detected AFTER the damage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74719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Supply chain disruptions — port strikes, geopolitical closures, carrier defaults — surface in morning reports after shipments are already delayed. No system monitors leading indicators in real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907791"/>
            <a:ext cx="5669280" cy="1627632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907791"/>
            <a:ext cx="566928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07238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Monte Carlo simulations use garbage inputs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474719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Existing tools run scenarios with uncapped Pareto distributions — producing outputs like '$500M VaR on a $10K shipment'. CFOs dismiss the models entirely. Capital reserves are guesswork.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718304"/>
            <a:ext cx="5669280" cy="1627632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718304"/>
            <a:ext cx="56692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8828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ML models embedded in wrong industry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285232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Off-the-shelf demand models apply B2C retail seasonality (Q4 peak) to B2B manufacturers. An automotive forwarder gets told to over-stock in December when their peak is January factory restart.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718304"/>
            <a:ext cx="5669280" cy="1627632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718304"/>
            <a:ext cx="566928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8828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No audit trail across the decision chain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285232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When a compliance auditor asks 'why did the system route this shipment through Singapore?', no answer exists. Decisions are made, executed and forgotten. Accountability is impossible.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09320"/>
            <a:ext cx="12188952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8-STAGE AI PIPELINE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  <a:latin typeface="Calibri"/>
              </a:rPr>
              <a:t>AdaptiveOrchestrator — replaces a single 80-line God-function with isolated, fault-tolerant stages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429000"/>
            <a:ext cx="11640312" cy="54864"/>
          </a:xfrm>
          <a:prstGeom prst="rect">
            <a:avLst/>
          </a:prstGeom>
          <a:solidFill>
            <a:srgbClr val="0F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" y="3364992"/>
            <a:ext cx="182880" cy="182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1371600" cy="192024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1371600" cy="50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D4ED8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" y="1627632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 Ingestion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" y="3108960"/>
            <a:ext cx="54864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3520440"/>
            <a:ext cx="1371600" cy="123444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3520440"/>
            <a:ext cx="1371600" cy="50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" y="3611880"/>
            <a:ext cx="122529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Load + normalize from ERP,
CSV, GST portal, bank feeds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67128" y="3364992"/>
            <a:ext cx="182880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91640" y="1188720"/>
            <a:ext cx="1371600" cy="192024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91640" y="1188720"/>
            <a:ext cx="1371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46504" y="1627632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ML Inference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50008" y="3108960"/>
            <a:ext cx="54864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91640" y="3520440"/>
            <a:ext cx="1371600" cy="123444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91640" y="3520440"/>
            <a:ext cx="1371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64792" y="3611880"/>
            <a:ext cx="122529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Delay prediction + demand
batch inference (RandomForest)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0168" y="3364992"/>
            <a:ext cx="182880" cy="182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54680" y="1188720"/>
            <a:ext cx="1371600" cy="192024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54680" y="1188720"/>
            <a:ext cx="137160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468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B6D4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9544" y="1627632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CLV Calibration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3048" y="3108960"/>
            <a:ext cx="54864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54680" y="3520440"/>
            <a:ext cx="1371600" cy="123444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54680" y="3520440"/>
            <a:ext cx="137160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27832" y="3611880"/>
            <a:ext cx="122529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Per-account Customer Lifetime
Value enrichment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93208" y="3364992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17720" y="1188720"/>
            <a:ext cx="1371600" cy="192024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617720" y="1188720"/>
            <a:ext cx="13716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2584" y="1627632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Decision Engine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76088" y="3108960"/>
            <a:ext cx="54864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17720" y="3520440"/>
            <a:ext cx="1371600" cy="123444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617720" y="3520440"/>
            <a:ext cx="13716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90872" y="3611880"/>
            <a:ext cx="122529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Per-row deterministic rules
+ ReVM scoring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56248" y="3364992"/>
            <a:ext cx="18288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80760" y="1188720"/>
            <a:ext cx="1371600" cy="192024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80760" y="1188720"/>
            <a:ext cx="13716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076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35624" y="1627632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Situation Assessment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39128" y="3108960"/>
            <a:ext cx="54864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80760" y="3520440"/>
            <a:ext cx="1371600" cy="123444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80760" y="3520440"/>
            <a:ext cx="13716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3912" y="3611880"/>
            <a:ext cx="122529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Portfolio heuristics
&lt; 1ms, no LLM call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19288" y="3364992"/>
            <a:ext cx="182880" cy="1828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43800" y="1188720"/>
            <a:ext cx="1371600" cy="192024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43800" y="1188720"/>
            <a:ext cx="137160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4380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BBF24"/>
                </a:solidFill>
                <a:latin typeface="Calibri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98664" y="1627632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Dispatch Planning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02168" y="3108960"/>
            <a:ext cx="54864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43800" y="3520440"/>
            <a:ext cx="1371600" cy="123444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543800" y="3520440"/>
            <a:ext cx="137160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16952" y="3611880"/>
            <a:ext cx="122529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LLM agent selection
temp=0, deterministic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82328" y="3364992"/>
            <a:ext cx="182880" cy="182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06840" y="1188720"/>
            <a:ext cx="1371600" cy="192024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006840" y="1188720"/>
            <a:ext cx="137160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0684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4444"/>
                </a:solidFill>
                <a:latin typeface="Calibri"/>
              </a:rPr>
              <a:t>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61704" y="1627632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Agent Execution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65208" y="3108960"/>
            <a:ext cx="54864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006840" y="3520440"/>
            <a:ext cx="1371600" cy="123444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06840" y="3520440"/>
            <a:ext cx="137160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79992" y="3611880"/>
            <a:ext cx="122529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Runs Risk / Financial /
Routing / Anomaly agents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945368" y="3364992"/>
            <a:ext cx="182880" cy="18288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469880" y="1188720"/>
            <a:ext cx="1371600" cy="192024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469880" y="1188720"/>
            <a:ext cx="1371600" cy="508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46988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3C5FD"/>
                </a:solidFill>
                <a:latin typeface="Calibri"/>
              </a:rPr>
              <a:t>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24744" y="1627632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Persistence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1128248" y="3108960"/>
            <a:ext cx="54864" cy="20116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469880" y="3520440"/>
            <a:ext cx="1371600" cy="123444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469880" y="3520440"/>
            <a:ext cx="1371600" cy="508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543032" y="3611880"/>
            <a:ext cx="122529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Audit log + snapshot +
decision log written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4937760"/>
            <a:ext cx="11640312" cy="155448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74320" y="4937760"/>
            <a:ext cx="11640312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7200" y="5029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FAULT-TOLERANCE GUARANTEE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5513832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1792" y="5440680"/>
            <a:ext cx="5138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Stage N failure is caught, logged, and stored as StageOutput. Stage N+1 always executes.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17920" y="5513832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82512" y="5440680"/>
            <a:ext cx="5138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ctx.result('stage_name') returns {} safely — downstream stages never see a raw exception.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589788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1792" y="5824728"/>
            <a:ext cx="5138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pipeline_health key in every response exposes per-stage timings and failure list for observability.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217920" y="589788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82512" y="5824728"/>
            <a:ext cx="5138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GNN failure cannot silently corrupt the ReVM calculation (isolated stage boundary).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09320"/>
            <a:ext cx="12188952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RISK ENGINE — XGBoost + Graph Neural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  <a:latin typeface="Calibri"/>
              </a:rPr>
              <a:t>Two-model ensemble: tabular XGBoost + GNN contagion propagation across the supply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303520" cy="530352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3035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XGBoost Risk Classifier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0512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37360"/>
            <a:ext cx="4773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Trained on: carrier performance, route history, geopolitical scores, weather, SLA breach records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59152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286000"/>
            <a:ext cx="4773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SHAP explainability — every prediction has feature importances exposed to the frontend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07791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834639"/>
            <a:ext cx="4773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risk_pipeline.pkl: sklearn Pipeline (preprocessor + XGBoost classifier)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56431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383279"/>
            <a:ext cx="4773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Outputs: risk_probability, risk_class (LOW/MED/HIGH), top_shap_features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05072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931920"/>
            <a:ext cx="4773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Fallback: heuristic rule set if pkl missing (graceful degradation on first boot)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26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Why SHAP matters to auditors: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C5FD"/>
                </a:solidFill>
                <a:latin typeface="Calibri"/>
              </a:rPr>
              <a:t>Every risk decision can be traced to its input features.
No black box — auditors see exactly why a shipment was flagged.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1097280"/>
            <a:ext cx="6062472" cy="530352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60" y="1097280"/>
            <a:ext cx="606247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12344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Graph Neural Network (Contagion Layer)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810512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2" y="1737360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Nodes = ports, warehouses, carriers. Edges = active shipping lanes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359152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2286000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Model: RiskGNN (PyTorch) — in_channels=2, hidden=16, out=2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907791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2" y="2834639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Predicts risk contagion: if Port A is disrupted, how does risk spread to Port B?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456431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2" y="3383279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GNN blend weight: up to 35% of final risk score when node is in path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4005072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9632" y="3931920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Decays with graph-hop distance — nodes 3+ hops away don't falsely alarm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4553712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4480560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Temporal risk sensing: ETA-aware scoring (risk at arrival time, not today)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5720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Blend formula: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4892040"/>
            <a:ext cx="5577840" cy="502920"/>
          </a:xfrm>
          <a:prstGeom prst="rect">
            <a:avLst/>
          </a:prstGeom>
          <a:solidFill>
            <a:srgbClr val="07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9560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alibri"/>
              </a:rPr>
              <a:t>final_score = xgb_score * (1 - gnn_weight) + gnn_score * gnn_weight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09320"/>
            <a:ext cx="12188952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INDIA GST COMPLIANCE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  <a:latin typeface="Calibri"/>
              </a:rPr>
              <a:t>The only financial system that quantifies the working capital cost of GST on every shipment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3749039" cy="393192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3749039" cy="50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070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IMPORT (INBOUND)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727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Inbound to India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93392"/>
            <a:ext cx="64008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920240"/>
            <a:ext cx="3264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IGST computed at customs clearance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96312"/>
            <a:ext cx="64008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2423160"/>
            <a:ext cx="3264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ITC recovery lag: 45-90 days modelled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99232"/>
            <a:ext cx="64008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926080"/>
            <a:ext cx="3264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WACC-adjusted carrying cost calculated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502152"/>
            <a:ext cx="64008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429000"/>
            <a:ext cx="3264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BCD (Basic Customs Duty) — sunk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005072"/>
            <a:ext cx="64008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931920"/>
            <a:ext cx="3264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total_india_customs_cost returned per shipment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1097280"/>
            <a:ext cx="3749039" cy="393192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59" y="1097280"/>
            <a:ext cx="3749039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19" y="12070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EXPORT (OUTBOUND)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19" y="15727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Outbound from India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19" y="1993392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1" y="1920240"/>
            <a:ext cx="3264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LUT path: zero upfront GST, zero working capital impact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19" y="2496312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1" y="2423160"/>
            <a:ext cx="3264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IGST-first path: refund lag cost modelled (30-90 days)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19" y="2999232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1" y="2926080"/>
            <a:ext cx="3264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DGFT Duty Drawback (AIR): % of FOB value recovered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19" y="3502152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1" y="3429000"/>
            <a:ext cx="3264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net_gst_impact = refund_lag_cost - drawback_benefit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19" y="4005072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3711" y="3931920"/>
            <a:ext cx="3264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Flags exporters not on LUT for corrective action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1097280"/>
            <a:ext cx="3749039" cy="393192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1097280"/>
            <a:ext cx="3749039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12070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GSTR AUTO-GENERATION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15727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Filing &amp; Reconciliation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6760" y="1993392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31352" y="1920240"/>
            <a:ext cx="3264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GSTR-1: outward supply return auto-populated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66760" y="2496312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31352" y="2423160"/>
            <a:ext cx="3264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GSTR-3B: summary return with ITC reconciliation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60" y="2999232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31352" y="2926080"/>
            <a:ext cx="3264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Invoice validation against GST portal rules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60" y="3502152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31352" y="3429000"/>
            <a:ext cx="3264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Mismatch detection before filing (not after penalty)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66760" y="4005072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31352" y="3931920"/>
            <a:ext cx="3264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Refund tracker: monitors GSTN processing status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166360"/>
            <a:ext cx="11640312" cy="141732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5166360"/>
            <a:ext cx="11640312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257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THE INSIGHT THAT NO OTHER TOOL COMPUTES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62356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Rs 1 Cr pharma API import  |  IGST @ 12% = Rs 12L paid at port  |  ITC recovery: 67 days  |  WACC: 11%
Hidden carrying cost = Rs 12L x 11% x (67/365) = Rs 24,200  per shipment  — completely invisible in any P&amp;L.
Fiscalogix surfaces this per-shipment, per-month. At scale: Rs 50L+ annual drain made visible and optimizable.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09320"/>
            <a:ext cx="12188952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GEOPOLITICAL ROUTE OPTIMIZER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  <a:latin typeface="Calibri"/>
              </a:rPr>
              <a:t>NetworkX-based multi-modal routing engine with real-time risk overlay and strike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577840" cy="530352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5778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How the Engine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Graph Model: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6916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Directed graph (NetworkX DiGraph). Nodes = ports/hubs/warehouses. Edges = shipping lanes.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128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Node Properties: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21284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territory_type (Friendly/Neutral/Enemy), risk_score per node, ETA-aware scoring.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3405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Edge Properties: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73405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distance_km, duration_hours, base_cost (fuel+crew+fixed), transport_mode, customs_delay.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5526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Transport Modes: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255264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Ocean (25 km/h), Rail (60 km/h), Truck (80 km/h). Mode-switch penalty: $200 + 4 hrs.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764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Strike Detection: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77647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set_strike(u, v) flags edges as active. Critical cargo = 2x penalty; standard = 0.5x.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9767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Weight Function: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4297679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total_weight = base_cost x (1 + (node_risk + strike_penalty) x beta)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188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Critical Cargo: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81888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beta multiplied by 3.0 for critical shipments — routes aggressively away from risk.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4009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Output: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34009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Best path, feasibility score (0-100), risk level, cost breakdown by mode, carrier list.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097280"/>
            <a:ext cx="5788152" cy="228600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097280"/>
            <a:ext cx="5788152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2344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Feasibility Score Formula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645920"/>
            <a:ext cx="5394960" cy="685800"/>
          </a:xfrm>
          <a:prstGeom prst="rect">
            <a:avLst/>
          </a:prstGeom>
          <a:solidFill>
            <a:srgbClr val="07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6916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alibri"/>
              </a:rPr>
              <a:t>feasibility = 100 - (mode_switches x 5) - (customs_delay x 2)
clamped to [10, 98]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468880"/>
            <a:ext cx="137160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2478024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71024"/>
                </a:solidFill>
                <a:latin typeface="Calibri"/>
              </a:rPr>
              <a:t>feasibility &gt;= 85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24688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LOW risk — execute as planned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715768"/>
            <a:ext cx="1371600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2724912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71024"/>
                </a:solidFill>
                <a:latin typeface="Calibri"/>
              </a:rPr>
              <a:t>feasibility 70-84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271576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MEDIUM risk — monitor closely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962656"/>
            <a:ext cx="1371600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2971800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71024"/>
                </a:solidFill>
                <a:latin typeface="Calibri"/>
              </a:rPr>
              <a:t>feasibility &lt; 70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296265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HIGH risk — consider rerouting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3566160"/>
            <a:ext cx="5788152" cy="283464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3566160"/>
            <a:ext cx="578815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7033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Multi-Echelon Inventory (MEIO)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233672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4160520"/>
            <a:ext cx="5230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Simulated Q-learning allocates stock across 3 hubs: NA (45%), EU (35%), APAC (remainder)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4663440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73952" y="4590288"/>
            <a:ext cx="5230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WACC-adjusted holding cost = physical storage + capital carrying cost (opportunity cost)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5093208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3952" y="5020056"/>
            <a:ext cx="5230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alpha = stockout_penalty / (true_holding_cost + stockout_penalty)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5522976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73952" y="5449824"/>
            <a:ext cx="5230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Previous bug: WACC was accepted but never used — fixed, bias toward over-ordering eliminated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5952744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73952" y="5879592"/>
            <a:ext cx="5230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projected_stockout_risk surfaced per SKU to decision engine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09320"/>
            <a:ext cx="12188952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FINANCIAL INTELLIGENCE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  <a:latin typeface="Calibri"/>
              </a:rPr>
              <a:t>ReVM scoring, Monte Carlo VaR, cashflow prediction, liquidity scoring — all in one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11640312" cy="114300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REVM — RISK-ADJUSTED ECONOMIC VALUE METRIC (per shipment)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  <a:latin typeface="Calibri"/>
              </a:rPr>
              <a:t>ReVM = contribution_profit  -  risk_penalty  -  time_cost  -  future_impact  -  fx_cost  -  sla_penalty  -  tariff_cost  -  gst_cost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23160"/>
            <a:ext cx="2834640" cy="416052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423160"/>
            <a:ext cx="28346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5420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Monte Carlo
Simulation 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200400"/>
            <a:ext cx="64008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27248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1,000-cycle scenario simulation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685032"/>
            <a:ext cx="64008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611880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Pareto black-swan delays CAPPED at 180 days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169664"/>
            <a:ext cx="64008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4096512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(fix: uncapped Pareto produced $500M VaR on $10K cargo)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654296"/>
            <a:ext cx="64008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4581144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Outputs: P50/P95 delay, VaR floor, scenario samples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138928"/>
            <a:ext cx="64008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5065776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Tier-based SLA penalty rates per contract type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2423160"/>
            <a:ext cx="2834640" cy="416052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2423160"/>
            <a:ext cx="2834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25420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Cashflow Predictor
Orchestrator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320040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2" y="3127248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Multi-horizon cashflow prediction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3685032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93592" y="3611880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Shock detector: flags sudden cashflow anomalies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4169664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93592" y="4096512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Root cause engine: traces shock to carrier/route/SKU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29000" y="4654296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93592" y="4581144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Event generator: creates timeline of cash events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29000" y="5138928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93592" y="5065776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Decision support: recommends buffer size adjustments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423160"/>
            <a:ext cx="2834640" cy="416052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2423160"/>
            <a:ext cx="283464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25420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Liquidity Score
&amp; Buffer Engine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3200400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11112" y="3127248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Real-time liquidity scoring (0-100)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46520" y="3685032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11112" y="3611880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Cash buffer requirement calculated per risk tier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4169664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11112" y="4096512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Impact engine: models downstream effect of decisions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46520" y="4654296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11112" y="4581144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Concentration engine: flags over-exposure to single carriers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46520" y="5138928"/>
            <a:ext cx="6400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11112" y="5065776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WACC engine: cost of capital updated from FRED API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35440" y="2423160"/>
            <a:ext cx="2834640" cy="416052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35440" y="2423160"/>
            <a:ext cx="283464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72600" y="25420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Scenario Simulation
&amp; Confidence Engine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72600" y="3200400"/>
            <a:ext cx="64008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37192" y="3127248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What-if scenarios: tariff change, route closure, FX shock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72600" y="3685032"/>
            <a:ext cx="64008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37192" y="3611880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ConfidenceTrustEngine scores model output reliability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72600" y="4169664"/>
            <a:ext cx="64008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37192" y="4096512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Confidence Studio: audit-ready confidence per prediction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72600" y="4654296"/>
            <a:ext cx="64008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37192" y="4581144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FX risk model: USD/INR/EUR/GBP hedging signals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72600" y="5138928"/>
            <a:ext cx="64008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37192" y="5065776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SLA penalty model: tier-based contract breach costs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09320"/>
            <a:ext cx="1218895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RAG AI COPILOT + AUTONOMOUS AGENT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  <a:latin typeface="Calibri"/>
              </a:rPr>
              <a:t>Semantic search over your documents + 5 specialized AI agents dispatched by the orchestrator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577840" cy="539496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57784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RAG — Retrieval-Augmented Generation Copilot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54864" cy="59436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3C5FD"/>
                </a:solidFill>
                <a:latin typeface="Calibri"/>
              </a:rPr>
              <a:t>Embedder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sentence-transformers/all-MiniLM-L6-v2. 384 dimensions, CPU-only (~80ms/batch). Graceful fallback to keyword search if library unavailable.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54864" cy="594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68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Vector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432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PostgreSQL + pgvector extension. Embeddings stored alongside document chunks. Cosine similarity search over contracts, invoices, financial history.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46120"/>
            <a:ext cx="54864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461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Ingestion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204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PDF, Excel, CSV ingestion via pdfplumber + openpyxl. Chunked, embedded, stored. Re-ingestion is idempotent — no duplicate chunks.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Retriever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Top-K semantic retrieval. Falls back to exact-keyword when embedding model is down. Context window managed to fit Claude API limits.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00600"/>
            <a:ext cx="54864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006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LLM Gateway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749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Claude (claude-sonnet) as the reasoning layer. Prompt includes retrieved context + user query. Responses grounded in your actual documents.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097280"/>
            <a:ext cx="5788152" cy="539496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1097280"/>
            <a:ext cx="5788152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2344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5 Autonomous AI Agents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737360"/>
            <a:ext cx="5394960" cy="82296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1737360"/>
            <a:ext cx="539496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1810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RiskAgent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1214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Evaluates shipment risk. Pulls XGBoost + GNN scores. Triggers reroute recommendation if risk &gt; threshold.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697480"/>
            <a:ext cx="5394960" cy="82296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2697480"/>
            <a:ext cx="539496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2770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FinancialAgent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0815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Computes ReVM, liquidity score, SLA exposure. Flags working capital drain from GST/ITC lag.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657600"/>
            <a:ext cx="5394960" cy="82296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657600"/>
            <a:ext cx="539496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730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RoutingAgent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416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Runs GeopoliticalRouteOptimizer. Proposes alternate routes when primary is strike-active or HIGH risk.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617720"/>
            <a:ext cx="5394960" cy="82296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617720"/>
            <a:ext cx="539496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690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AnomalyAgent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0017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Detects statistical anomalies in cashflow, demand, and payment patterns using ML drift detection.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5577840"/>
            <a:ext cx="5394960" cy="82296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5577840"/>
            <a:ext cx="539496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5650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ExecutiveAgent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9618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Synthesizes all agent outputs into a board-level summary. Calls Claude for natural language briefing.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09320"/>
            <a:ext cx="12188952" cy="50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ENTERPRISE API LAYER + DATA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  <a:latin typeface="Calibri"/>
              </a:rPr>
              <a:t>Production FastAPI backend with versioned endpoints, async workers, and multi-DB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Calibri"/>
              </a:rPr>
              <a:t>API ENDPOINTS (15+ routers registered)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3749039" cy="530352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3749039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600200"/>
            <a:ext cx="56692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600200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71024"/>
                </a:solidFill>
                <a:latin typeface="Calibri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56362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/api/v1/predict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81051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Delay, demand, risk prediction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508760"/>
            <a:ext cx="3749039" cy="530352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508760"/>
            <a:ext cx="3749039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199" y="1600200"/>
            <a:ext cx="566928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9" y="1600200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71024"/>
                </a:solidFill>
                <a:latin typeface="Calibri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7" y="156362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/api/v1/optimize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7" y="181051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Route + inventory optimization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508760"/>
            <a:ext cx="3749039" cy="530352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508760"/>
            <a:ext cx="3749039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292840" y="1600200"/>
            <a:ext cx="56692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92840" y="1600200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71024"/>
                </a:solidFill>
                <a:latin typeface="Calibri"/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156362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/api/v1/mapping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181051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AI field mapping (ERP schema normalize)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148839"/>
            <a:ext cx="3749039" cy="530352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2148839"/>
            <a:ext cx="3749039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37560" y="2240279"/>
            <a:ext cx="56692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2240279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71024"/>
                </a:solidFill>
                <a:latin typeface="Calibri"/>
              </a:rP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2203703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/api/v1/documents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2450591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Document ingestion + RAG queries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59" y="2148839"/>
            <a:ext cx="3749039" cy="530352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51959" y="2148839"/>
            <a:ext cx="3749039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199" y="2240279"/>
            <a:ext cx="566928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199" y="2240279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71024"/>
                </a:solidFill>
                <a:latin typeface="Calibri"/>
              </a:rPr>
              <a:t>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1687" y="2203703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  <a:latin typeface="Calibri"/>
              </a:rPr>
              <a:t>/api/v1/realtime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1687" y="2450591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WebSocket real-time event stream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2148839"/>
            <a:ext cx="3749039" cy="530352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2148839"/>
            <a:ext cx="3749039" cy="50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292840" y="2240279"/>
            <a:ext cx="566928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92840" y="2240279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71024"/>
                </a:solidFill>
                <a:latin typeface="Calibri"/>
              </a:rPr>
              <a:t>GET/POST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9328" y="2203703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  <a:latin typeface="Calibri"/>
              </a:rPr>
              <a:t>/twin/*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8" y="2450591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Digital twin simulation endpoints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788920"/>
            <a:ext cx="3749039" cy="530352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4320" y="2788920"/>
            <a:ext cx="3749039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337560" y="2880360"/>
            <a:ext cx="56692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37560" y="2880360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71024"/>
                </a:solidFill>
                <a:latin typeface="Calibri"/>
              </a:rPr>
              <a:t>GET/POST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284378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/india/*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" y="309067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GST compliance + refund tracker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51959" y="2788920"/>
            <a:ext cx="3749039" cy="530352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51959" y="2788920"/>
            <a:ext cx="3749039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15199" y="2880360"/>
            <a:ext cx="566928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199" y="2880360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71024"/>
                </a:solidFill>
                <a:latin typeface="Calibri"/>
              </a:rPr>
              <a:t>POST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61687" y="284378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/optimization/*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61687" y="309067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MIP optimizer + constraint engine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2788920"/>
            <a:ext cx="3749039" cy="530352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29600" y="2788920"/>
            <a:ext cx="3749039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292840" y="2880360"/>
            <a:ext cx="566928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292840" y="2880360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71024"/>
                </a:solidFill>
                <a:latin typeface="Calibri"/>
              </a:rPr>
              <a:t>POST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9328" y="284378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  <a:latin typeface="Calibri"/>
              </a:rPr>
              <a:t>/alerts/*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39328" y="309067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Alert management + Twilio SMS dispatch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3428999"/>
            <a:ext cx="3749039" cy="530352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74320" y="3428999"/>
            <a:ext cx="3749039" cy="508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337560" y="3520439"/>
            <a:ext cx="566928" cy="20116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337560" y="3520439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71024"/>
                </a:solidFill>
                <a:latin typeface="Calibri"/>
              </a:rPr>
              <a:t>GET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4048" y="3483863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3C5FD"/>
                </a:solidFill>
                <a:latin typeface="Calibri"/>
              </a:rPr>
              <a:t>/reports/*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048" y="3730751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Financial reports + GSTR generation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51959" y="3428999"/>
            <a:ext cx="3749039" cy="530352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251959" y="3428999"/>
            <a:ext cx="3749039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199" y="3520439"/>
            <a:ext cx="56692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199" y="3520439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71024"/>
                </a:solidFill>
                <a:latin typeface="Calibri"/>
              </a:rPr>
              <a:t>POST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61687" y="3483863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/execution/*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61687" y="3730751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Dispute engine + reroute executor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0" y="3428999"/>
            <a:ext cx="3749039" cy="530352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229600" y="3428999"/>
            <a:ext cx="3749039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292840" y="3520439"/>
            <a:ext cx="566928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292840" y="3520439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71024"/>
                </a:solidFill>
                <a:latin typeface="Calibri"/>
              </a:rPr>
              <a:t>GET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39328" y="3483863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/confidence/*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39328" y="3730751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Confidence Studio audit outputs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5074920"/>
            <a:ext cx="11640312" cy="150876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74320" y="5074920"/>
            <a:ext cx="11640312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7200" y="5166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DATA &amp; INFRASTRUCTURE LAYER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55321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PostgreSQL + pgvector: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48840" y="55321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Primary store + vector embeddings for RAG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97680" y="55321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Redis: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89320" y="55321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Session cache, FX rate cache, Celery broker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38160" y="55321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Neo4j: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29800" y="55321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Graph DB for supply chain network topology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7200" y="59893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Celery + Workers: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48840" y="59893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Async background tasks: model training, report generation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97680" y="59893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SAP / NetSuite Connectors: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89320" y="59893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ERP write-back + data sync via base connector pattern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138160" y="59893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Docker + Railway: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829800" y="59893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Containerized deploy, env-var secrets, 1-worker uvicorn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0C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WHAT FISCALOGIX GIVES AN AUDITOR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3C5FD"/>
                </a:solidFill>
                <a:latin typeface="Calibri"/>
              </a:rPr>
              <a:t>Every decision is traceable. Every cost is quantified. Every risk is explained.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92224"/>
            <a:ext cx="292608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Full audit trail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84832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Every pipeline stage writes to AuditLogger with timestamp, input hash, and output. Immutable.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542032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SHAP explainability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Every risk score comes with top feature importances. No black boxes.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91840"/>
            <a:ext cx="292608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369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GST working capital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8444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ITC lag and duty drawback quantified per shipment — visible in reports.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041647"/>
            <a:ext cx="292608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8678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Monte Carlo VaR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34255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1,000-cycle simulation with capped distributions. Credible capital reserve numbers.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791456"/>
            <a:ext cx="292608" cy="2926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7365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Confidence scores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84064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Every ML prediction carries a confidence band. Confidence Studio for drill-down.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541264"/>
            <a:ext cx="292608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Decision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33872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What decision was made, by which agent, on which data, at what time — per row.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6400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Calibri"/>
              </a:rPr>
              <a:t>TECH STACK SUMMARY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1143000"/>
            <a:ext cx="2286000" cy="38404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117957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Language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11795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B6D4"/>
                </a:solidFill>
                <a:latin typeface="Calibri"/>
              </a:rPr>
              <a:t>Python 3.11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38360" y="1143000"/>
            <a:ext cx="2286000" cy="38404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9800" y="117957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27080" y="11795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B6D4"/>
                </a:solidFill>
                <a:latin typeface="Calibri"/>
              </a:rPr>
              <a:t>FastAPI + Uvicorn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1618488"/>
            <a:ext cx="2286000" cy="38404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165506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16550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B6D4"/>
                </a:solidFill>
                <a:latin typeface="Calibri"/>
              </a:rPr>
              <a:t>XGBoost, RandomForest, Prophet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38360" y="1618488"/>
            <a:ext cx="2286000" cy="38404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9800" y="165506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Deep Learning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16550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B6D4"/>
                </a:solidFill>
                <a:latin typeface="Calibri"/>
              </a:rPr>
              <a:t>PyTorch GNN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2093976"/>
            <a:ext cx="2286000" cy="38404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213055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21305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B6D4"/>
                </a:solidFill>
                <a:latin typeface="Calibri"/>
              </a:rPr>
              <a:t>Claude (Anthropic)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38360" y="2093976"/>
            <a:ext cx="2286000" cy="38404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29800" y="213055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Embeddings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27080" y="21305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B6D4"/>
                </a:solidFill>
                <a:latin typeface="Calibri"/>
              </a:rPr>
              <a:t>all-MiniLM-L6-v2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0" y="2569464"/>
            <a:ext cx="2286000" cy="38404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260604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Optimization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26060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B6D4"/>
                </a:solidFill>
                <a:latin typeface="Calibri"/>
              </a:rPr>
              <a:t>OR-Tools MIP, NetworkX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38360" y="2569464"/>
            <a:ext cx="2286000" cy="38404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29800" y="260604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Databases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27080" y="26060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B6D4"/>
                </a:solidFill>
                <a:latin typeface="Calibri"/>
              </a:rPr>
              <a:t>PostgreSQL, Redis, Neo4j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0" y="3044952"/>
            <a:ext cx="2286000" cy="38404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06640" y="308152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Queue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3081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B6D4"/>
                </a:solidFill>
                <a:latin typeface="Calibri"/>
              </a:rPr>
              <a:t>Celery + Redis broker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38360" y="3044952"/>
            <a:ext cx="2286000" cy="38404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29800" y="308152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Deploy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27080" y="3081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B6D4"/>
                </a:solidFill>
                <a:latin typeface="Calibri"/>
              </a:rPr>
              <a:t>Docker + Railway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0" y="3520440"/>
            <a:ext cx="2286000" cy="38404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0" y="355701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Compliance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0" y="35570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B6D4"/>
                </a:solidFill>
                <a:latin typeface="Calibri"/>
              </a:rPr>
              <a:t>GST, DGFT, ITC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738360" y="3520440"/>
            <a:ext cx="2286000" cy="38404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29800" y="355701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Connectors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27080" y="35570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B6D4"/>
                </a:solidFill>
                <a:latin typeface="Calibri"/>
              </a:rPr>
              <a:t>SAP, NetSuite, ERP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6743700"/>
            <a:ext cx="12188952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